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71" r:id="rId8"/>
    <p:sldId id="263" r:id="rId9"/>
    <p:sldId id="262" r:id="rId10"/>
    <p:sldId id="264" r:id="rId11"/>
    <p:sldId id="261" r:id="rId12"/>
    <p:sldId id="265" r:id="rId13"/>
    <p:sldId id="266" r:id="rId14"/>
    <p:sldId id="267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27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3055"/>
                </a:solidFill>
              </a:defRPr>
            </a:pPr>
            <a:r>
              <a:t>REAL ESTATE LEAD GENERATION</a:t>
            </a:r>
            <a:br/>
            <a:r>
              <a:t>&amp; CONVERSION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971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774BE"/>
                </a:solidFill>
              </a:defRPr>
            </a:pPr>
            <a:r>
              <a:t>End-to-End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03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Python • SQL • Excel • Power BI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Lead generation, conversion, site visits and sales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5"/>
                </a:solidFill>
              </a:defRPr>
            </a:pPr>
            <a:r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Identify which lead sources generate the highest volume of prospects.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Measure how effectively leads move from enquiry to conversion.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Understand property type, budget and site-visit patterns.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Track sales value and conversion rate for better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5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Clean and prepare raw lead data.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Perform exploratory analysis using Python.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Use SQL for structured business analysis.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Build Excel and interactive Power BI reporting.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Convert analysis into business insights and recommendations.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5"/>
                </a:solidFill>
              </a:defRPr>
            </a:pPr>
            <a:r>
              <a:t>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main.py — central project launcher.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Python folder — analysis scripts and charts.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SQL folder — database queries and analysis.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Excel folder — cleaned data and Excel dashboard.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Power BI folder — PBIX dashboard and report.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Charts / Raw Data — supporting outputs and source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5"/>
                </a:solidFill>
              </a:defRPr>
            </a:pPr>
            <a:r>
              <a:t>Tools &amp;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Raw Data → Python → SQL → Excel → Power BI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Python supports cleaning and exploratory analysis.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SQL supports repeatable business calculations.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Excel validates and summarizes the data.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Power BI provides interactive reporting for decision-making.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5"/>
                </a:solidFill>
              </a:defRPr>
            </a:pPr>
            <a:r>
              <a:t>Dataset &amp; Key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Lead ID and Lead Date — lead tracking and time analysis.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Lead Source and Location — acquisition and geography.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Property Type and Budget Range — customer demand.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Call Attempts, Call Status and Follow-Up — sales activity.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Site Visit, Lead Status and Sales Value — outcomes and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1F4E79"/>
                </a:solidFill>
                <a:latin typeface="Aptos Display"/>
              </a:rPr>
              <a:t>Python Analysis &amp; Charts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05840"/>
            <a:ext cx="11365992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WhatsApp Image 2026-08-28 at 4.54.27 PM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664" y="1129284"/>
            <a:ext cx="9172366" cy="52852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5"/>
                </a:solidFill>
              </a:defRPr>
            </a:pPr>
            <a:r>
              <a:t>Excel Analysis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60120"/>
            <a:ext cx="1154887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excel_dashboard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93273"/>
            <a:ext cx="11247120" cy="43743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5"/>
                </a:solidFill>
              </a:defRPr>
            </a:pPr>
            <a:r>
              <a:t>SQL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Structured the lead data in MySQL for repeatable analysis.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Used aggregation and filtering for lead, conversion, site-visit and sales metrics.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Segmented results by source, property type, location and other dimensions.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SQL results provide the analytical foundation for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5"/>
                </a:solidFill>
              </a:defRPr>
            </a:pPr>
            <a:r>
              <a:t>Key Performance Indicators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2057400" cy="1417320"/>
          </a:xfrm>
          <a:prstGeom prst="roundRect">
            <a:avLst/>
          </a:prstGeom>
          <a:solidFill>
            <a:srgbClr val="27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TOTAL LEADS</a:t>
            </a:r>
          </a:p>
          <a:p>
            <a:pPr algn="ctr">
              <a:defRPr sz="2500" b="1">
                <a:solidFill>
                  <a:srgbClr val="FFFFFF"/>
                </a:solidFill>
              </a:defRPr>
            </a:pPr>
            <a:r>
              <a:t>1K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70632" y="1828800"/>
            <a:ext cx="2057400" cy="1417320"/>
          </a:xfrm>
          <a:prstGeom prst="roundRect">
            <a:avLst/>
          </a:prstGeom>
          <a:solidFill>
            <a:srgbClr val="14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CONVERTED LEADS</a:t>
            </a:r>
          </a:p>
          <a:p>
            <a:pPr algn="ctr">
              <a:defRPr sz="2500" b="1">
                <a:solidFill>
                  <a:srgbClr val="FFFFFF"/>
                </a:solidFill>
              </a:defRPr>
            </a:pPr>
            <a:r>
              <a:t>202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9784" y="1828800"/>
            <a:ext cx="2057400" cy="1417320"/>
          </a:xfrm>
          <a:prstGeom prst="roundRect">
            <a:avLst/>
          </a:prstGeom>
          <a:solidFill>
            <a:srgbClr val="EB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SITE VISITS</a:t>
            </a:r>
          </a:p>
          <a:p>
            <a:pPr algn="ctr">
              <a:defRPr sz="2500" b="1">
                <a:solidFill>
                  <a:srgbClr val="FFFFFF"/>
                </a:solidFill>
              </a:defRPr>
            </a:pPr>
            <a:r>
              <a:t>305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88936" y="1828800"/>
            <a:ext cx="2057400" cy="1417320"/>
          </a:xfrm>
          <a:prstGeom prst="roundRect">
            <a:avLst/>
          </a:prstGeom>
          <a:solidFill>
            <a:srgbClr val="703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TOTAL SALES</a:t>
            </a:r>
          </a:p>
          <a:p>
            <a:pPr algn="ctr">
              <a:defRPr sz="2500" b="1">
                <a:solidFill>
                  <a:srgbClr val="FFFFFF"/>
                </a:solidFill>
              </a:defRPr>
            </a:pPr>
            <a:r>
              <a:t>2.15M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48088" y="1828800"/>
            <a:ext cx="2057400" cy="1417320"/>
          </a:xfrm>
          <a:prstGeom prst="roundRect">
            <a:avLst/>
          </a:prstGeom>
          <a:solidFill>
            <a:srgbClr val="D2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CONVERSION RATE</a:t>
            </a:r>
          </a:p>
          <a:p>
            <a:pPr algn="ctr">
              <a:defRPr sz="2500" b="1">
                <a:solidFill>
                  <a:srgbClr val="FFFFFF"/>
                </a:solidFill>
              </a:defRPr>
            </a:pPr>
            <a:r>
              <a:t>20.20%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The dashboard combines acquisition volume, conversion, site visits and sales into one management 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5"/>
                </a:solidFill>
              </a:defRPr>
            </a:pPr>
            <a:r>
              <a:t>Power BI 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</a:defRPr>
            </a:pPr>
            <a:r>
              <a:t>Interactive overview with KPIs, slicers and analytical visuals</a:t>
            </a:r>
          </a:p>
        </p:txBody>
      </p:sp>
      <p:pic>
        <p:nvPicPr>
          <p:cNvPr id="5" name="Picture 4" descr="8dce1485-c654-42d8-84fa-0a57f0cbeb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3000"/>
            <a:ext cx="10881360" cy="61177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5"/>
                </a:solidFill>
              </a:defRPr>
            </a:pPr>
            <a:r>
              <a:t>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Website is the leading visible source by lead volume in the executive dashboard.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Apartment is the largest displayed property-type segment.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305 site visits are recorded from 1K total leads.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202 converted leads out of 1K corresponds to a 20.20% conversion rate.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Sales value should be monitored together with conversion, not lead volume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5"/>
                </a:solidFill>
              </a:defRPr>
            </a:pPr>
            <a:r>
              <a:t>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Prioritize high-performing lead sources while testing lower-performing channels.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Create targeted campaigns for high-demand property segments.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Improve follow-up speed and consistency for unconverted leads.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Track site-visit-to-conversion performance to find funnel bottlenecks.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Monitor conversion rate and sales value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5"/>
                </a:solidFill>
              </a:defRPr>
            </a:pPr>
            <a:r>
              <a:t>Interactive Dashboard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Lead Source slicer — filter by acquisition channel.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Location slicer — compare geographic performance.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Property Type slicer — analyze demand by category.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Lead Date slicer — explore performance across time.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Selecting a segment updates relevant KPI and visual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3055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This project demonstrates an end-to-end data analytics workflow.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Python supports data preparation and exploratory analysis.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SQL supports structured business analysis.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Excel provides a practical validation and reporting layer.</a:t>
            </a:r>
          </a:p>
          <a:p>
            <a:pPr>
              <a:spcAft>
                <a:spcPts val="1200"/>
              </a:spcAft>
              <a:defRPr sz="1800">
                <a:solidFill>
                  <a:srgbClr val="232D3A"/>
                </a:solidFill>
              </a:defRPr>
            </a:pPr>
            <a:r>
              <a:t>• Power BI transforms the results into an interactive decision-making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628</Words>
  <Application>Microsoft Office PowerPoint</Application>
  <PresentationFormat>Widescreen</PresentationFormat>
  <Paragraphs>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2026-08-28T12:01:41Z</dcterms:modified>
  <cp:category/>
</cp:coreProperties>
</file>